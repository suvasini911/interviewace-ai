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4" r:id="rId7"/>
    <p:sldId id="285" r:id="rId8"/>
    <p:sldId id="287" r:id="rId9"/>
    <p:sldId id="288" r:id="rId10"/>
    <p:sldId id="281" r:id="rId11"/>
    <p:sldId id="279" r:id="rId12"/>
    <p:sldId id="262" r:id="rId13"/>
    <p:sldId id="264" r:id="rId14"/>
    <p:sldId id="278" r:id="rId15"/>
    <p:sldId id="286" r:id="rId16"/>
    <p:sldId id="277" r:id="rId17"/>
    <p:sldId id="280"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hyperlink" Target="https://github.com/Suvasini911/InterviewAce-AI.git"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10" y="2600325"/>
          <a:ext cx="9779000" cy="3701415"/>
        </p:xfrm>
        <a:graphic>
          <a:graphicData uri="http://schemas.openxmlformats.org/drawingml/2006/table">
            <a:tbl>
              <a:tblPr>
                <a:noFill/>
                <a:tableStyleId>{0AAD8F4D-43EB-41E5-8A38-28AB6DFB1B60}</a:tableStyleId>
              </a:tblPr>
              <a:tblGrid>
                <a:gridCol w="2149475"/>
                <a:gridCol w="2543175"/>
                <a:gridCol w="2729865"/>
                <a:gridCol w="2356485"/>
              </a:tblGrid>
              <a:tr h="1662430">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dirty="0">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2038985">
                <a:tc>
                  <a:txBody>
                    <a:bodyPr/>
                    <a:lstStyle/>
                    <a:p>
                      <a:r>
                        <a:rPr lang="en-GB" sz="1400"/>
                        <a:t>            </a:t>
                      </a:r>
                      <a:endParaRPr lang="en-GB" sz="1400"/>
                    </a:p>
                    <a:p>
                      <a:r>
                        <a:rPr lang="en-GB" sz="1400"/>
                        <a:t>          </a:t>
                      </a:r>
                      <a:endParaRPr lang="en-GB" sz="1400"/>
                    </a:p>
                    <a:p>
                      <a:endParaRPr lang="en-GB" sz="1400"/>
                    </a:p>
                    <a:p>
                      <a:endParaRPr lang="en-GB" sz="1400"/>
                    </a:p>
                    <a:p>
                      <a:r>
                        <a:rPr lang="en-GB" sz="1400"/>
                        <a:t>             </a:t>
                      </a:r>
                      <a:r>
                        <a:rPr sz="1400"/>
                        <a:t>Suvasini </a:t>
                      </a:r>
                      <a:endParaRPr sz="14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endParaRPr sz="1400" i="1">
                        <a:solidFill>
                          <a:srgbClr val="808080"/>
                        </a:solidFill>
                      </a:endParaRPr>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endParaRPr lang="en-GB" sz="1400"/>
                    </a:p>
                    <a:p>
                      <a:endParaRPr lang="en-GB" sz="1400"/>
                    </a:p>
                    <a:p>
                      <a:endParaRPr lang="en-GB" sz="1400"/>
                    </a:p>
                    <a:p>
                      <a:endParaRPr lang="en-GB" sz="1400"/>
                    </a:p>
                    <a:p>
                      <a:r>
                        <a:rPr lang="en-GB" sz="1400"/>
                        <a:t> suvasinihuleppa95@gmail.com</a:t>
                      </a:r>
                      <a:endParaRPr lang="en-GB" sz="14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endParaRPr sz="1400"/>
                    </a:p>
                    <a:p>
                      <a:endParaRPr sz="1400"/>
                    </a:p>
                    <a:p>
                      <a:endParaRPr sz="1400"/>
                    </a:p>
                    <a:p>
                      <a:endParaRPr sz="1400"/>
                    </a:p>
                    <a:p>
                      <a:r>
                        <a:rPr sz="1400"/>
                        <a:t> </a:t>
                      </a:r>
                      <a:r>
                        <a:rPr lang="en-GB" sz="1400"/>
                        <a:t>      </a:t>
                      </a:r>
                      <a:r>
                        <a:rPr sz="1400"/>
                        <a:t>+91-</a:t>
                      </a:r>
                      <a:r>
                        <a:rPr lang="en-GB" sz="1400"/>
                        <a:t>8884260594</a:t>
                      </a:r>
                      <a:endParaRPr lang="en-GB" sz="14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1665"/>
          </a:xfrm>
          <a:prstGeom prst="rect">
            <a:avLst/>
          </a:prstGeom>
          <a:noFill/>
        </p:spPr>
        <p:txBody>
          <a:bodyPr wrap="square" rtlCol="0">
            <a:spAutoFit/>
          </a:bodyPr>
          <a:lstStyle/>
          <a:p>
            <a:r>
              <a:rPr lang="en-US" sz="2400" b="1" dirty="0"/>
              <a:t>Domain of Project – Education &amp; Career Development</a:t>
            </a:r>
            <a:endParaRPr lang="en-IN" sz="2400" b="1" dirty="0">
              <a:highlight>
                <a:srgbClr val="FFFF00"/>
              </a:highlight>
            </a:endParaRPr>
          </a:p>
        </p:txBody>
      </p:sp>
      <p:sp>
        <p:nvSpPr>
          <p:cNvPr id="7" name="TextBox 6"/>
          <p:cNvSpPr txBox="1"/>
          <p:nvPr/>
        </p:nvSpPr>
        <p:spPr>
          <a:xfrm>
            <a:off x="1206162" y="551965"/>
            <a:ext cx="9581177" cy="461665"/>
          </a:xfrm>
          <a:prstGeom prst="rect">
            <a:avLst/>
          </a:prstGeom>
          <a:noFill/>
        </p:spPr>
        <p:txBody>
          <a:bodyPr wrap="square" rtlCol="0">
            <a:spAutoFit/>
          </a:bodyPr>
          <a:lstStyle/>
          <a:p>
            <a:r>
              <a:rPr lang="en-US" sz="2400" b="1" dirty="0"/>
              <a:t>Project Title – InterviewAce AI – Agentic Interview Trainer using IBM Granite and LangFlow</a:t>
            </a:r>
            <a:endParaRPr lang="en-IN" sz="2400" b="1" dirty="0">
              <a:highlight>
                <a:srgbClr val="FFFF00"/>
              </a:highlight>
            </a:endParaRPr>
          </a:p>
        </p:txBody>
      </p:sp>
      <p:pic>
        <p:nvPicPr>
          <p:cNvPr id="2" name="Picture 1" descr="Screenshot 2026-05-28 181344"/>
          <p:cNvPicPr>
            <a:picLocks noChangeAspect="1"/>
          </p:cNvPicPr>
          <p:nvPr/>
        </p:nvPicPr>
        <p:blipFill>
          <a:blip r:embed="rId1"/>
          <a:srcRect t="21159"/>
          <a:stretch>
            <a:fillRect/>
          </a:stretch>
        </p:blipFill>
        <p:spPr>
          <a:xfrm>
            <a:off x="3792220" y="4354830"/>
            <a:ext cx="1826260" cy="18872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987425"/>
            <a:ext cx="10607040" cy="7093585"/>
          </a:xfrm>
          <a:prstGeom prst="rect">
            <a:avLst/>
          </a:prstGeom>
          <a:noFill/>
        </p:spPr>
        <p:txBody>
          <a:bodyPr wrap="square" rtlCol="0">
            <a:spAutoFit/>
          </a:bodyPr>
          <a:lstStyle/>
          <a:p>
            <a:pPr fontAlgn="base">
              <a:lnSpc>
                <a:spcPct val="150000"/>
              </a:lnSpc>
            </a:pPr>
            <a:r>
              <a:rPr lang="en-US" b="1" dirty="0"/>
              <a:t>Problem Statement : Interview Trainer Agent (Problem Statement No. 22)</a:t>
            </a:r>
            <a:endParaRPr lang="en-US" b="1" dirty="0"/>
          </a:p>
          <a:p>
            <a:pPr fontAlgn="base">
              <a:lnSpc>
                <a:spcPct val="150000"/>
              </a:lnSpc>
            </a:pPr>
            <a:endParaRPr lang="en-US" b="1" dirty="0"/>
          </a:p>
          <a:p>
            <a:pPr fontAlgn="base">
              <a:lnSpc>
                <a:spcPct val="150000"/>
              </a:lnSpc>
            </a:pPr>
            <a:r>
              <a:rPr lang="en-US" b="1" dirty="0"/>
              <a:t>The Challenge</a:t>
            </a:r>
            <a:endParaRPr lang="en-US" b="1" dirty="0"/>
          </a:p>
          <a:p>
            <a:pPr fontAlgn="base">
              <a:lnSpc>
                <a:spcPct val="150000"/>
              </a:lnSpc>
            </a:pPr>
            <a:r>
              <a:rPr lang="en-US" dirty="0"/>
              <a:t>Preparing for job interviews can be difficult due to the lack of personalized guidance, role-specific preparation, and real-time feedback. Candidates often struggle to identify relevant technical questions, HR scenarios, and industry expectations. Many students are unable to practice effectively because existing platforms provide generic content rather than tailored interview preparation. An AI-powered Interview Trainer can solve this problem by generating personalized interview questions, model answers, and improvement suggestions based on the user's profile, skills, experience level, and job role.</a:t>
            </a:r>
            <a:endParaRPr lang="en-US" dirty="0"/>
          </a:p>
          <a:p>
            <a:pPr fontAlgn="base">
              <a:lnSpc>
                <a:spcPct val="150000"/>
              </a:lnSpc>
            </a:pPr>
            <a:endParaRPr lang="en-US" dirty="0"/>
          </a:p>
          <a:p>
            <a:pPr fontAlgn="base">
              <a:lnSpc>
                <a:spcPct val="150000"/>
              </a:lnSpc>
            </a:pPr>
            <a:r>
              <a:rPr lang="en-US" b="1" dirty="0"/>
              <a:t>The Objective</a:t>
            </a:r>
            <a:endParaRPr lang="en-US" b="1" dirty="0"/>
          </a:p>
          <a:p>
            <a:pPr fontAlgn="base">
              <a:lnSpc>
                <a:spcPct val="150000"/>
              </a:lnSpc>
            </a:pPr>
            <a:r>
              <a:rPr lang="en-US" dirty="0"/>
              <a:t>Build an AI-powered Interview Trainer Agent that delivers personalized interview preparation support. The solution should:</a:t>
            </a:r>
            <a:endParaRPr lang="en-US" dirty="0"/>
          </a:p>
          <a:p>
            <a:pPr marL="285750" indent="-285750" fontAlgn="base">
              <a:lnSpc>
                <a:spcPct val="150000"/>
              </a:lnSpc>
              <a:buFont typeface="Arial" panose="020B0604020202020204" pitchFamily="34" charset="0"/>
              <a:buChar char="•"/>
            </a:pPr>
            <a:r>
              <a:rPr lang="en-US" b="1" dirty="0"/>
              <a:t>Generate role-specific technical interview questions.</a:t>
            </a:r>
            <a:endParaRPr lang="en-US" b="1" dirty="0"/>
          </a:p>
          <a:p>
            <a:pPr marL="285750" indent="-285750" fontAlgn="base">
              <a:lnSpc>
                <a:spcPct val="150000"/>
              </a:lnSpc>
              <a:buFont typeface="Arial" panose="020B0604020202020204" pitchFamily="34" charset="0"/>
              <a:buChar char="•"/>
            </a:pPr>
            <a:r>
              <a:rPr lang="en-US" b="1" dirty="0"/>
              <a:t>Provide HR and behavioral interview preparation.</a:t>
            </a:r>
            <a:endParaRPr lang="en-US" b="1" dirty="0"/>
          </a:p>
          <a:p>
            <a:pPr marL="285750" indent="-285750" fontAlgn="base">
              <a:lnSpc>
                <a:spcPct val="150000"/>
              </a:lnSpc>
              <a:buFont typeface="Arial" panose="020B0604020202020204" pitchFamily="34" charset="0"/>
              <a:buChar char="•"/>
            </a:pPr>
            <a:r>
              <a:rPr lang="en-US" b="1" dirty="0"/>
              <a:t>Analyze resumes and identify candidate strengths.</a:t>
            </a:r>
            <a:endParaRPr lang="en-US" b="1" dirty="0"/>
          </a:p>
          <a:p>
            <a:pPr marL="285750" indent="-285750" fontAlgn="base">
              <a:lnSpc>
                <a:spcPct val="150000"/>
              </a:lnSpc>
              <a:buFont typeface="Arial" panose="020B0604020202020204" pitchFamily="34" charset="0"/>
              <a:buChar char="•"/>
            </a:pPr>
            <a:r>
              <a:rPr lang="en-US" b="1" dirty="0"/>
              <a:t>Suggest model answers and improvement tips.</a:t>
            </a:r>
            <a:endParaRPr lang="en-US" b="1" dirty="0"/>
          </a:p>
          <a:p>
            <a:pPr marL="285750" indent="-285750" fontAlgn="base">
              <a:lnSpc>
                <a:spcPct val="150000"/>
              </a:lnSpc>
              <a:buFont typeface="Arial" panose="020B0604020202020204" pitchFamily="34" charset="0"/>
              <a:buChar char="•"/>
            </a:pPr>
            <a:r>
              <a:rPr lang="en-US" b="1" dirty="0"/>
              <a:t>Support mock interview simulations.</a:t>
            </a:r>
            <a:endParaRPr lang="en-US" b="1" dirty="0"/>
          </a:p>
          <a:p>
            <a:pPr marL="285750" indent="-285750" fontAlgn="base">
              <a:lnSpc>
                <a:spcPct val="150000"/>
              </a:lnSpc>
              <a:buFont typeface="Arial" panose="020B0604020202020204" pitchFamily="34" charset="0"/>
              <a:buChar char="•"/>
            </a:pPr>
            <a:r>
              <a:rPr lang="en-US" b="1" dirty="0"/>
              <a:t>Deliver personalized feedback and confidence scores.</a:t>
            </a:r>
            <a:endParaRPr lang="en-US" b="1" dirty="0"/>
          </a:p>
          <a:p>
            <a:pPr marL="285750" indent="-285750" fontAlgn="base">
              <a:lnSpc>
                <a:spcPct val="150000"/>
              </a:lnSpc>
              <a:buFont typeface="Arial" panose="020B0604020202020204" pitchFamily="34" charset="0"/>
              <a:buChar char="•"/>
            </a:pPr>
          </a:p>
          <a:p>
            <a:pPr marL="285750" indent="-285750" fontAlgn="base">
              <a:lnSpc>
                <a:spcPct val="150000"/>
              </a:lnSpc>
              <a:buFont typeface="Arial" panose="020B0604020202020204" pitchFamily="34" charset="0"/>
              <a:buChar char="•"/>
            </a:pPr>
          </a:p>
          <a:p>
            <a:pPr marL="285750" indent="-285750" fontAlgn="base">
              <a:buFont typeface="Arial" panose="020B0604020202020204" pitchFamily="34" charset="0"/>
              <a:buChar char="•"/>
            </a:pPr>
          </a:p>
          <a:p>
            <a:pPr marL="285750" indent="-285750" fontAlgn="base">
              <a:buFont typeface="Arial" panose="020B0604020202020204" pitchFamily="34" charset="0"/>
              <a:buChar char="•"/>
            </a:pPr>
          </a:p>
          <a:p>
            <a:pPr fontAlgn="base"/>
            <a:endParaRPr lang="en-US" dirty="0"/>
          </a:p>
          <a:p>
            <a:endParaRPr lang="en-IN" dirty="0"/>
          </a:p>
        </p:txBody>
      </p:sp>
      <p:sp>
        <p:nvSpPr>
          <p:cNvPr id="3" name="TextBox 2"/>
          <p:cNvSpPr txBox="1"/>
          <p:nvPr/>
        </p:nvSpPr>
        <p:spPr>
          <a:xfrm>
            <a:off x="576072" y="394843"/>
            <a:ext cx="7214616" cy="461665"/>
          </a:xfrm>
          <a:prstGeom prst="rect">
            <a:avLst/>
          </a:prstGeom>
          <a:noFill/>
        </p:spPr>
        <p:txBody>
          <a:bodyPr wrap="square" rtlCol="0">
            <a:spAutoFit/>
          </a:bodyPr>
          <a:lstStyle/>
          <a:p>
            <a:r>
              <a:rPr lang="en-US" sz="2400" b="1" dirty="0"/>
              <a:t>Problem Statement -</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667512" y="1165753"/>
            <a:ext cx="10607040" cy="4923155"/>
          </a:xfrm>
          <a:prstGeom prst="rect">
            <a:avLst/>
          </a:prstGeom>
          <a:noFill/>
        </p:spPr>
        <p:txBody>
          <a:bodyPr wrap="square" rtlCol="0">
            <a:spAutoFit/>
          </a:bodyPr>
          <a:lstStyle/>
          <a:p>
            <a:pPr fontAlgn="base"/>
            <a:endParaRPr lang="en-US" b="1" dirty="0"/>
          </a:p>
          <a:p>
            <a:pPr fontAlgn="base">
              <a:lnSpc>
                <a:spcPct val="150000"/>
              </a:lnSpc>
            </a:pPr>
            <a:r>
              <a:rPr lang="en-IN" b="1" dirty="0"/>
              <a:t>Tech Stack (Mandatory)</a:t>
            </a:r>
            <a:endParaRPr lang="en-IN" b="1" dirty="0"/>
          </a:p>
          <a:p>
            <a:pPr fontAlgn="base">
              <a:lnSpc>
                <a:spcPct val="150000"/>
              </a:lnSpc>
            </a:pPr>
            <a:r>
              <a:rPr lang="en-IN" dirty="0"/>
              <a:t>LangFlow + IBM watsonx.ai + Granite Models</a:t>
            </a:r>
            <a:endParaRPr lang="en-IN" dirty="0"/>
          </a:p>
          <a:p>
            <a:pPr marL="285750" indent="-285750" fontAlgn="base">
              <a:lnSpc>
                <a:spcPct val="150000"/>
              </a:lnSpc>
              <a:buFont typeface="Arial" panose="020B0604020202020204" pitchFamily="34" charset="0"/>
              <a:buChar char="•"/>
            </a:pPr>
            <a:r>
              <a:rPr lang="en-IN" dirty="0" err="1"/>
              <a:t>I used LangFlow + IBM watsonx.ai + Granite Models</a:t>
            </a:r>
            <a:endParaRPr lang="en-IN" dirty="0" err="1"/>
          </a:p>
          <a:p>
            <a:pPr marL="0" indent="0" fontAlgn="base">
              <a:lnSpc>
                <a:spcPct val="150000"/>
              </a:lnSpc>
              <a:buNone/>
            </a:pPr>
            <a:r>
              <a:rPr lang="en-IN" sz="1800" b="1" dirty="0"/>
              <a:t>Technologies Used:</a:t>
            </a:r>
            <a:endParaRPr lang="en-IN" sz="1800" b="1" dirty="0"/>
          </a:p>
          <a:p>
            <a:pPr marL="285750" indent="-285750" fontAlgn="base">
              <a:lnSpc>
                <a:spcPct val="150000"/>
              </a:lnSpc>
              <a:buFont typeface="Arial" panose="020B0604020202020204"/>
              <a:buChar char="•"/>
            </a:pPr>
            <a:r>
              <a:rPr lang="en-IN" sz="1800" b="0" dirty="0"/>
              <a:t>LangFlow</a:t>
            </a:r>
            <a:endParaRPr lang="en-IN" sz="1800" b="0" dirty="0"/>
          </a:p>
          <a:p>
            <a:pPr marL="285750" indent="-285750" fontAlgn="base">
              <a:lnSpc>
                <a:spcPct val="150000"/>
              </a:lnSpc>
              <a:buFont typeface="Arial" panose="020B0604020202020204"/>
              <a:buChar char="•"/>
            </a:pPr>
            <a:r>
              <a:rPr sz="1800" b="0"/>
              <a:t>IBM watsonx.ai</a:t>
            </a:r>
            <a:endParaRPr lang="en-IN" dirty="0"/>
          </a:p>
          <a:p>
            <a:pPr marL="285750" indent="-285750" fontAlgn="base">
              <a:lnSpc>
                <a:spcPct val="150000"/>
              </a:lnSpc>
              <a:buFont typeface="Arial" panose="020B0604020202020204"/>
              <a:buChar char="•"/>
            </a:pPr>
            <a:r>
              <a:rPr lang="en-IN" sz="1800" b="0" dirty="0"/>
              <a:t>IBM Granite Models (Granite-4.0-8B-Instruct)</a:t>
            </a:r>
            <a:endParaRPr lang="en-IN" sz="1800" b="0" dirty="0"/>
          </a:p>
          <a:p>
            <a:pPr marL="285750" indent="-285750" fontAlgn="base">
              <a:lnSpc>
                <a:spcPct val="150000"/>
              </a:lnSpc>
              <a:buFont typeface="Arial" panose="020B0604020202020204"/>
              <a:buChar char="•"/>
            </a:pPr>
            <a:r>
              <a:rPr sz="1800" b="0"/>
              <a:t>Retrieval-Augmented Generation (RAG)</a:t>
            </a:r>
            <a:endParaRPr lang="en-IN" dirty="0"/>
          </a:p>
          <a:p>
            <a:pPr marL="285750" indent="-285750" fontAlgn="base">
              <a:lnSpc>
                <a:spcPct val="150000"/>
              </a:lnSpc>
              <a:buFont typeface="Arial" panose="020B0604020202020204"/>
              <a:buChar char="•"/>
            </a:pPr>
            <a:r>
              <a:rPr sz="1800" b="0"/>
              <a:t>Python</a:t>
            </a:r>
            <a:endParaRPr lang="en-IN" dirty="0"/>
          </a:p>
          <a:p>
            <a:pPr marL="285750" indent="-285750" fontAlgn="base">
              <a:lnSpc>
                <a:spcPct val="150000"/>
              </a:lnSpc>
              <a:buFont typeface="Arial" panose="020B0604020202020204"/>
              <a:buChar char="•"/>
            </a:pPr>
            <a:r>
              <a:rPr sz="1800" b="0"/>
              <a:t>FAISS Vector Database</a:t>
            </a:r>
            <a:endParaRPr lang="en-IN" dirty="0"/>
          </a:p>
          <a:p>
            <a:pPr marL="285750" indent="-285750" fontAlgn="base">
              <a:lnSpc>
                <a:spcPct val="150000"/>
              </a:lnSpc>
              <a:buFont typeface="Arial" panose="020B0604020202020204"/>
              <a:buChar char="•"/>
            </a:pPr>
            <a:r>
              <a:rPr sz="1800" b="0"/>
              <a:t>GitHub</a:t>
            </a:r>
            <a:endParaRPr lang="en-US" dirty="0"/>
          </a:p>
          <a:p>
            <a:pPr>
              <a:lnSpc>
                <a:spcPct val="150000"/>
              </a:lnSpc>
            </a:pPr>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908040"/>
          </a:xfrm>
          <a:prstGeom prst="rect">
            <a:avLst/>
          </a:prstGeom>
          <a:noFill/>
        </p:spPr>
        <p:txBody>
          <a:bodyPr wrap="square" rtlCol="0">
            <a:spAutoFit/>
          </a:bodyPr>
          <a:lstStyle/>
          <a:p>
            <a:pPr fontAlgn="base"/>
            <a:endParaRPr lang="en-US" b="1" dirty="0"/>
          </a:p>
          <a:p>
            <a:pPr>
              <a:lnSpc>
                <a:spcPct val="150000"/>
              </a:lnSpc>
            </a:pPr>
            <a:r>
              <a:rPr lang="en-US" b="1" dirty="0"/>
              <a:t>Proposed Solution: AI-Powered Interview Trainer Agent</a:t>
            </a:r>
            <a:endParaRPr lang="en-US" b="1" dirty="0"/>
          </a:p>
          <a:p>
            <a:pPr>
              <a:lnSpc>
                <a:spcPct val="150000"/>
              </a:lnSpc>
            </a:pPr>
            <a:endParaRPr lang="en-US" b="1" dirty="0"/>
          </a:p>
          <a:p>
            <a:pPr>
              <a:lnSpc>
                <a:spcPct val="150000"/>
              </a:lnSpc>
            </a:pPr>
            <a:r>
              <a:rPr lang="en-US" dirty="0"/>
              <a:t>The proposed solution is a multi-agent AI-powered Interview Trainer built using LangFlow, IBM watsonx.ai, and IBM Granite Models. The system assists students and job seekers in preparing for technical, HR, and behavioral interviews through personalized and intelligent guidance.</a:t>
            </a:r>
            <a:endParaRPr lang="en-US" dirty="0"/>
          </a:p>
          <a:p>
            <a:pPr>
              <a:lnSpc>
                <a:spcPct val="150000"/>
              </a:lnSpc>
            </a:pPr>
            <a:r>
              <a:rPr lang="en-US" dirty="0"/>
              <a:t>The solution uses a Retrieval-Augmented Generation (RAG) architecture to retrieve role-specific interview questions, company expectations, and industry best practices from trusted knowledge sources.</a:t>
            </a:r>
            <a:endParaRPr lang="en-US" dirty="0"/>
          </a:p>
          <a:p>
            <a:pPr>
              <a:lnSpc>
                <a:spcPct val="150000"/>
              </a:lnSpc>
            </a:pPr>
            <a:r>
              <a:rPr lang="en-US" dirty="0"/>
              <a:t>The system consists of four key agents:</a:t>
            </a:r>
            <a:endParaRPr lang="en-US" dirty="0"/>
          </a:p>
          <a:p>
            <a:pPr>
              <a:lnSpc>
                <a:spcPct val="150000"/>
              </a:lnSpc>
            </a:pPr>
            <a:r>
              <a:rPr lang="en-US" b="1" dirty="0"/>
              <a:t>Resume Analysis Agent – Extracts skills, projects, and experience from the candidate profile.</a:t>
            </a:r>
            <a:endParaRPr lang="en-US" b="1" dirty="0"/>
          </a:p>
          <a:p>
            <a:pPr>
              <a:lnSpc>
                <a:spcPct val="150000"/>
              </a:lnSpc>
            </a:pPr>
            <a:r>
              <a:rPr lang="en-US" b="1" dirty="0"/>
              <a:t>Technical Question Agent – Generates role-specific technical questions based on job role and skills.</a:t>
            </a:r>
            <a:endParaRPr lang="en-US" b="1" dirty="0"/>
          </a:p>
          <a:p>
            <a:pPr>
              <a:lnSpc>
                <a:spcPct val="150000"/>
              </a:lnSpc>
            </a:pPr>
            <a:r>
              <a:rPr lang="en-US" b="1" dirty="0"/>
              <a:t>HR Interview Agent – Creates behavioral and HR interview scenarios.</a:t>
            </a:r>
            <a:endParaRPr lang="en-US" b="1" dirty="0"/>
          </a:p>
          <a:p>
            <a:pPr>
              <a:lnSpc>
                <a:spcPct val="150000"/>
              </a:lnSpc>
            </a:pPr>
            <a:r>
              <a:rPr lang="en-US" b="1" dirty="0"/>
              <a:t>Feedback Agent – Evaluates answers and provides improvement suggestions and confidence scores.</a:t>
            </a:r>
            <a:endParaRPr lang="en-US" b="1" dirty="0"/>
          </a:p>
          <a:p>
            <a:pPr>
              <a:lnSpc>
                <a:spcPct val="150000"/>
              </a:lnSpc>
            </a:pPr>
            <a:r>
              <a:rPr lang="en-US" dirty="0"/>
              <a:t>The solution provides personalized interview preparation, mock interview sessions, and targeted feedback that improves candidate confidence and interview performance.</a:t>
            </a:r>
            <a:endParaRPr lang="en-US" dirty="0"/>
          </a:p>
          <a:p>
            <a:pPr>
              <a:lnSpc>
                <a:spcPct val="150000"/>
              </a:lnSpc>
            </a:pPr>
          </a:p>
          <a:p>
            <a:pPr>
              <a:lnSpc>
                <a:spcPct val="150000"/>
              </a:lnSpc>
            </a:pPr>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demo1"/>
          <p:cNvPicPr>
            <a:picLocks noChangeAspect="1"/>
          </p:cNvPicPr>
          <p:nvPr/>
        </p:nvPicPr>
        <p:blipFill>
          <a:blip r:embed="rId1"/>
          <a:srcRect r="32392"/>
          <a:stretch>
            <a:fillRect/>
          </a:stretch>
        </p:blipFill>
        <p:spPr>
          <a:xfrm>
            <a:off x="441960" y="746125"/>
            <a:ext cx="5654040" cy="5670550"/>
          </a:xfrm>
          <a:prstGeom prst="rect">
            <a:avLst/>
          </a:prstGeom>
        </p:spPr>
      </p:pic>
      <p:pic>
        <p:nvPicPr>
          <p:cNvPr id="5" name="Picture 4" descr="demo2"/>
          <p:cNvPicPr>
            <a:picLocks noChangeAspect="1"/>
          </p:cNvPicPr>
          <p:nvPr/>
        </p:nvPicPr>
        <p:blipFill>
          <a:blip r:embed="rId2"/>
          <a:srcRect r="15524"/>
          <a:stretch>
            <a:fillRect/>
          </a:stretch>
        </p:blipFill>
        <p:spPr>
          <a:xfrm>
            <a:off x="6365240" y="746125"/>
            <a:ext cx="5452745" cy="5670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demo3.png"/>
          <p:cNvPicPr>
            <a:picLocks noChangeAspect="1"/>
          </p:cNvPicPr>
          <p:nvPr/>
        </p:nvPicPr>
        <p:blipFill>
          <a:blip r:embed="rId1"/>
          <a:stretch>
            <a:fillRect/>
          </a:stretch>
        </p:blipFill>
        <p:spPr>
          <a:xfrm>
            <a:off x="540385" y="530860"/>
            <a:ext cx="5300980" cy="5801995"/>
          </a:xfrm>
          <a:prstGeom prst="rect">
            <a:avLst/>
          </a:prstGeom>
        </p:spPr>
      </p:pic>
      <p:pic>
        <p:nvPicPr>
          <p:cNvPr id="5" name="Picture 4" descr="demo4.png"/>
          <p:cNvPicPr>
            <a:picLocks noChangeAspect="1"/>
          </p:cNvPicPr>
          <p:nvPr/>
        </p:nvPicPr>
        <p:blipFill>
          <a:blip r:embed="rId2"/>
          <a:stretch>
            <a:fillRect/>
          </a:stretch>
        </p:blipFill>
        <p:spPr>
          <a:xfrm>
            <a:off x="6350000" y="530860"/>
            <a:ext cx="5304155" cy="5801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sym typeface="Times New Roman" panose="02020603050405020304"/>
              </a:rPr>
              <a:t>Langflow</a:t>
            </a: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ym typeface="Times New Roman" panose="02020603050405020304"/>
              </a:rPr>
              <a:t>component Used -</a:t>
            </a:r>
            <a:endParaRPr sz="2400" b="1" dirty="0">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6339205"/>
          </a:xfrm>
          <a:prstGeom prst="rect">
            <a:avLst/>
          </a:prstGeom>
          <a:noFill/>
        </p:spPr>
        <p:txBody>
          <a:bodyPr wrap="square" rtlCol="0">
            <a:spAutoFit/>
          </a:bodyPr>
          <a:lstStyle/>
          <a:p>
            <a:endParaRPr lang="en-US" dirty="0"/>
          </a:p>
          <a:p>
            <a:pPr>
              <a:lnSpc>
                <a:spcPct val="150000"/>
              </a:lnSpc>
            </a:pPr>
            <a:r>
              <a:rPr lang="en-US" b="1" dirty="0"/>
              <a:t>1) Chat Input – Accepts candidate profile, job role, and interview preferences.</a:t>
            </a:r>
            <a:endParaRPr lang="en-US" b="1" dirty="0"/>
          </a:p>
          <a:p>
            <a:pPr>
              <a:lnSpc>
                <a:spcPct val="150000"/>
              </a:lnSpc>
            </a:pPr>
            <a:endParaRPr lang="en-US" dirty="0"/>
          </a:p>
          <a:p>
            <a:pPr>
              <a:lnSpc>
                <a:spcPct val="150000"/>
              </a:lnSpc>
            </a:pPr>
            <a:r>
              <a:rPr lang="en-US" b="1" dirty="0"/>
              <a:t>2) IBM watsonx AI Agent – Processes candidate information and generates interview content using Granite models.</a:t>
            </a:r>
            <a:endParaRPr lang="en-US" b="1" dirty="0"/>
          </a:p>
          <a:p>
            <a:pPr>
              <a:lnSpc>
                <a:spcPct val="150000"/>
              </a:lnSpc>
            </a:pPr>
            <a:endParaRPr lang="en-US" dirty="0"/>
          </a:p>
          <a:p>
            <a:pPr>
              <a:lnSpc>
                <a:spcPct val="150000"/>
              </a:lnSpc>
            </a:pPr>
            <a:r>
              <a:rPr lang="en-US" b="1" dirty="0"/>
              <a:t>3) Name of IBM Granite model – Granite-4.0-8B-Instruct</a:t>
            </a:r>
            <a:endParaRPr lang="en-US" b="1" dirty="0"/>
          </a:p>
          <a:p>
            <a:pPr>
              <a:lnSpc>
                <a:spcPct val="150000"/>
              </a:lnSpc>
            </a:pPr>
            <a:endParaRPr lang="en-US" dirty="0"/>
          </a:p>
          <a:p>
            <a:pPr>
              <a:lnSpc>
                <a:spcPct val="150000"/>
              </a:lnSpc>
            </a:pPr>
            <a:r>
              <a:rPr lang="en-US" b="1" dirty="0"/>
              <a:t>4) Chat Output – Displays interview questions, model answers, and feedback.</a:t>
            </a:r>
            <a:endParaRPr lang="en-US" b="1" dirty="0"/>
          </a:p>
          <a:p>
            <a:pPr>
              <a:lnSpc>
                <a:spcPct val="150000"/>
              </a:lnSpc>
            </a:pPr>
            <a:endParaRPr lang="en-US" dirty="0"/>
          </a:p>
          <a:p>
            <a:pPr>
              <a:lnSpc>
                <a:spcPct val="150000"/>
              </a:lnSpc>
            </a:pPr>
            <a:r>
              <a:rPr lang="en-US" b="1" dirty="0"/>
              <a:t>5) File Component – Stores resumes, interview datasets, and candidate information.</a:t>
            </a:r>
            <a:endParaRPr lang="en-US" b="1" dirty="0"/>
          </a:p>
          <a:p>
            <a:pPr>
              <a:lnSpc>
                <a:spcPct val="150000"/>
              </a:lnSpc>
            </a:pPr>
            <a:endParaRPr lang="en-US" dirty="0"/>
          </a:p>
          <a:p>
            <a:pPr>
              <a:lnSpc>
                <a:spcPct val="150000"/>
              </a:lnSpc>
            </a:pPr>
            <a:r>
              <a:rPr lang="en-US" b="1" dirty="0"/>
              <a:t>6) FAISS Vector Store – Retrieves relevant interview questions and knowledge using RAG.</a:t>
            </a:r>
            <a:endParaRPr lang="en-US" b="1" dirty="0"/>
          </a:p>
          <a:p>
            <a:pPr marL="342900" indent="-342900">
              <a:lnSpc>
                <a:spcPct val="150000"/>
              </a:lnSpc>
              <a:buAutoNum type="arabicParenR" startAt="3"/>
            </a:pPr>
            <a:endParaRPr lang="en-US" dirty="0"/>
          </a:p>
          <a:p>
            <a:pPr>
              <a:lnSpc>
                <a:spcPct val="150000"/>
              </a:lnSpc>
            </a:pPr>
            <a:endParaRPr lang="en-US" dirty="0"/>
          </a:p>
          <a:p>
            <a:pPr>
              <a:lnSpc>
                <a:spcPct val="150000"/>
              </a:lnSpc>
            </a:pPr>
            <a:endParaRPr lang="en-US" dirty="0"/>
          </a:p>
          <a:p>
            <a:pPr>
              <a:lnSpc>
                <a:spcPct val="150000"/>
              </a:lnSpc>
            </a:pPr>
            <a:endParaRPr lang="en-US" dirty="0"/>
          </a:p>
          <a:p>
            <a:endParaRPr lang="en-US" dirty="0"/>
          </a:p>
          <a:p>
            <a:endParaRPr lang="en-US" dirty="0"/>
          </a:p>
          <a:p>
            <a:endParaRPr lang="en-US" dirty="0"/>
          </a:p>
          <a:p>
            <a:r>
              <a:rPr lang="en-US" dirty="0"/>
              <a:t> </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sym typeface="Times New Roman" panose="02020603050405020304"/>
              </a:rPr>
              <a:t>Langflow</a:t>
            </a: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ym typeface="Times New Roman" panose="02020603050405020304"/>
              </a:rPr>
              <a:t>workflow -</a:t>
            </a:r>
            <a:endParaRPr sz="2400" b="1" dirty="0">
              <a:sym typeface="Times New Roman" panose="02020603050405020304"/>
            </a:endParaRPr>
          </a:p>
        </p:txBody>
      </p:sp>
      <p:sp>
        <p:nvSpPr>
          <p:cNvPr id="3" name="Rounded Rectangle 2"/>
          <p:cNvSpPr/>
          <p:nvPr/>
        </p:nvSpPr>
        <p:spPr>
          <a:xfrm>
            <a:off x="4038447" y="1068070"/>
            <a:ext cx="4114800" cy="45720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lnSpc>
                <a:spcPct val="100000"/>
              </a:lnSpc>
              <a:buNone/>
            </a:pPr>
            <a:r>
              <a:rPr sz="1300" b="1">
                <a:solidFill>
                  <a:srgbClr val="FFFFFF"/>
                </a:solidFill>
              </a:rPr>
              <a:t>Candidate Input</a:t>
            </a:r>
            <a:endParaRPr sz="1300" b="1">
              <a:solidFill>
                <a:srgbClr val="FFFFFF"/>
              </a:solidFill>
            </a:endParaRPr>
          </a:p>
        </p:txBody>
      </p:sp>
      <p:sp>
        <p:nvSpPr>
          <p:cNvPr id="4" name="Down Arrow 3"/>
          <p:cNvSpPr/>
          <p:nvPr/>
        </p:nvSpPr>
        <p:spPr>
          <a:xfrm>
            <a:off x="5986145" y="1533525"/>
            <a:ext cx="219710" cy="374015"/>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p>
        </p:txBody>
      </p:sp>
      <p:sp>
        <p:nvSpPr>
          <p:cNvPr id="5" name="Rounded Rectangle 4"/>
          <p:cNvSpPr/>
          <p:nvPr/>
        </p:nvSpPr>
        <p:spPr>
          <a:xfrm>
            <a:off x="4038447" y="1925823"/>
            <a:ext cx="4114800" cy="45720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lnSpc>
                <a:spcPct val="100000"/>
              </a:lnSpc>
              <a:buNone/>
            </a:pPr>
            <a:r>
              <a:rPr sz="1300" b="1">
                <a:solidFill>
                  <a:srgbClr val="FFFFFF"/>
                </a:solidFill>
              </a:rPr>
              <a:t>Resume Analysis Agent</a:t>
            </a:r>
            <a:endParaRPr sz="1300" b="1">
              <a:solidFill>
                <a:srgbClr val="FFFFFF"/>
              </a:solidFill>
            </a:endParaRPr>
          </a:p>
        </p:txBody>
      </p:sp>
      <p:sp>
        <p:nvSpPr>
          <p:cNvPr id="6" name="Down Arrow 5"/>
          <p:cNvSpPr/>
          <p:nvPr/>
        </p:nvSpPr>
        <p:spPr>
          <a:xfrm>
            <a:off x="5986145" y="2388870"/>
            <a:ext cx="219710" cy="391795"/>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p>
        </p:txBody>
      </p:sp>
      <p:sp>
        <p:nvSpPr>
          <p:cNvPr id="7" name="Rounded Rectangle 6"/>
          <p:cNvSpPr/>
          <p:nvPr/>
        </p:nvSpPr>
        <p:spPr>
          <a:xfrm>
            <a:off x="4038447" y="2783576"/>
            <a:ext cx="4114800" cy="45720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lnSpc>
                <a:spcPct val="100000"/>
              </a:lnSpc>
              <a:buNone/>
            </a:pPr>
            <a:r>
              <a:rPr sz="1300" b="1">
                <a:solidFill>
                  <a:srgbClr val="FFFFFF"/>
                </a:solidFill>
              </a:rPr>
              <a:t>Technical Question Agent</a:t>
            </a:r>
            <a:endParaRPr sz="1300" b="1">
              <a:solidFill>
                <a:srgbClr val="FFFFFF"/>
              </a:solidFill>
            </a:endParaRPr>
          </a:p>
        </p:txBody>
      </p:sp>
      <p:sp>
        <p:nvSpPr>
          <p:cNvPr id="8" name="Down Arrow 7"/>
          <p:cNvSpPr/>
          <p:nvPr/>
        </p:nvSpPr>
        <p:spPr>
          <a:xfrm>
            <a:off x="5986145" y="3253740"/>
            <a:ext cx="219710" cy="390525"/>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p>
        </p:txBody>
      </p:sp>
      <p:sp>
        <p:nvSpPr>
          <p:cNvPr id="9" name="Rounded Rectangle 8"/>
          <p:cNvSpPr/>
          <p:nvPr/>
        </p:nvSpPr>
        <p:spPr>
          <a:xfrm>
            <a:off x="4038447" y="3657204"/>
            <a:ext cx="4114800" cy="45720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lnSpc>
                <a:spcPct val="100000"/>
              </a:lnSpc>
              <a:buNone/>
            </a:pPr>
            <a:r>
              <a:rPr sz="1300" b="1">
                <a:solidFill>
                  <a:srgbClr val="FFFFFF"/>
                </a:solidFill>
              </a:rPr>
              <a:t>HR Interview Agent</a:t>
            </a:r>
            <a:endParaRPr sz="1300" b="1">
              <a:solidFill>
                <a:srgbClr val="FFFFFF"/>
              </a:solidFill>
            </a:endParaRPr>
          </a:p>
        </p:txBody>
      </p:sp>
      <p:sp>
        <p:nvSpPr>
          <p:cNvPr id="10" name="Down Arrow 9"/>
          <p:cNvSpPr/>
          <p:nvPr/>
        </p:nvSpPr>
        <p:spPr>
          <a:xfrm>
            <a:off x="5986145" y="4117340"/>
            <a:ext cx="219710" cy="394335"/>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p>
        </p:txBody>
      </p:sp>
      <p:sp>
        <p:nvSpPr>
          <p:cNvPr id="11" name="Rounded Rectangle 10"/>
          <p:cNvSpPr/>
          <p:nvPr/>
        </p:nvSpPr>
        <p:spPr>
          <a:xfrm>
            <a:off x="4038447" y="4514957"/>
            <a:ext cx="4114800" cy="45720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lnSpc>
                <a:spcPct val="100000"/>
              </a:lnSpc>
              <a:buNone/>
            </a:pPr>
            <a:r>
              <a:rPr sz="1300" b="1">
                <a:solidFill>
                  <a:srgbClr val="FFFFFF"/>
                </a:solidFill>
              </a:rPr>
              <a:t>Feedback Agent</a:t>
            </a:r>
            <a:endParaRPr sz="1300" b="1">
              <a:solidFill>
                <a:srgbClr val="FFFFFF"/>
              </a:solidFill>
            </a:endParaRPr>
          </a:p>
        </p:txBody>
      </p:sp>
      <p:sp>
        <p:nvSpPr>
          <p:cNvPr id="12" name="Down Arrow 11"/>
          <p:cNvSpPr/>
          <p:nvPr/>
        </p:nvSpPr>
        <p:spPr>
          <a:xfrm>
            <a:off x="5986145" y="4990465"/>
            <a:ext cx="219710" cy="31369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p>
        </p:txBody>
      </p:sp>
      <p:sp>
        <p:nvSpPr>
          <p:cNvPr id="13" name="Rounded Rectangle 12"/>
          <p:cNvSpPr/>
          <p:nvPr/>
        </p:nvSpPr>
        <p:spPr>
          <a:xfrm>
            <a:off x="4038447" y="5304130"/>
            <a:ext cx="4114800" cy="45720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lnSpc>
                <a:spcPct val="100000"/>
              </a:lnSpc>
              <a:buNone/>
            </a:pPr>
            <a:r>
              <a:rPr sz="1300" b="1">
                <a:solidFill>
                  <a:srgbClr val="FFFFFF"/>
                </a:solidFill>
              </a:rPr>
              <a:t>IBM Granite Model</a:t>
            </a:r>
            <a:endParaRPr sz="1300" b="1">
              <a:solidFill>
                <a:srgbClr val="FFFFFF"/>
              </a:solidFill>
            </a:endParaRPr>
          </a:p>
        </p:txBody>
      </p:sp>
      <p:sp>
        <p:nvSpPr>
          <p:cNvPr id="14" name="Down Arrow 13"/>
          <p:cNvSpPr/>
          <p:nvPr/>
        </p:nvSpPr>
        <p:spPr>
          <a:xfrm>
            <a:off x="5986145" y="5761355"/>
            <a:ext cx="219710" cy="342900"/>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pPr>
          </a:p>
        </p:txBody>
      </p:sp>
      <p:sp>
        <p:nvSpPr>
          <p:cNvPr id="15" name="Rounded Rectangle 14"/>
          <p:cNvSpPr/>
          <p:nvPr/>
        </p:nvSpPr>
        <p:spPr>
          <a:xfrm>
            <a:off x="4038447" y="6126323"/>
            <a:ext cx="4114800" cy="45720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lnSpc>
                <a:spcPct val="100000"/>
              </a:lnSpc>
              <a:buNone/>
            </a:pPr>
            <a:r>
              <a:rPr sz="1300" b="1">
                <a:solidFill>
                  <a:srgbClr val="FFFFFF"/>
                </a:solidFill>
              </a:rPr>
              <a:t>Interview Preparation Report</a:t>
            </a:r>
            <a:endParaRPr sz="1300" b="1">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panose="020F0502020204030204"/>
                <a:ea typeface="Calibri" panose="020F0502020204030204"/>
                <a:cs typeface="Calibri" panose="020F0502020204030204"/>
                <a:sym typeface="Calibri" panose="020F0502020204030204"/>
              </a:rPr>
              <a:t>Architecture blueprint</a:t>
            </a:r>
            <a:endParaRPr lang="en-US" sz="2400" dirty="0"/>
          </a:p>
        </p:txBody>
      </p:sp>
      <p:sp>
        <p:nvSpPr>
          <p:cNvPr id="3" name="Rounded Rectangle 2"/>
          <p:cNvSpPr/>
          <p:nvPr/>
        </p:nvSpPr>
        <p:spPr>
          <a:xfrm>
            <a:off x="4541367" y="868680"/>
            <a:ext cx="3108960" cy="45720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300" b="1">
                <a:solidFill>
                  <a:srgbClr val="FFFFFF"/>
                </a:solidFill>
              </a:rPr>
              <a:t>User</a:t>
            </a:r>
            <a:endParaRPr sz="1300" b="1">
              <a:solidFill>
                <a:srgbClr val="FFFFFF"/>
              </a:solidFill>
            </a:endParaRPr>
          </a:p>
        </p:txBody>
      </p:sp>
      <p:sp>
        <p:nvSpPr>
          <p:cNvPr id="4" name="Down Arrow 3"/>
          <p:cNvSpPr/>
          <p:nvPr/>
        </p:nvSpPr>
        <p:spPr>
          <a:xfrm>
            <a:off x="5986119" y="1325880"/>
            <a:ext cx="219456" cy="201168"/>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41367" y="1554480"/>
            <a:ext cx="3108960" cy="45720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300" b="1">
                <a:solidFill>
                  <a:srgbClr val="FFFFFF"/>
                </a:solidFill>
              </a:rPr>
              <a:t>Interview Dashboard</a:t>
            </a:r>
            <a:endParaRPr sz="1300" b="1">
              <a:solidFill>
                <a:srgbClr val="FFFFFF"/>
              </a:solidFill>
            </a:endParaRPr>
          </a:p>
        </p:txBody>
      </p:sp>
      <p:sp>
        <p:nvSpPr>
          <p:cNvPr id="6" name="Down Arrow 5"/>
          <p:cNvSpPr/>
          <p:nvPr/>
        </p:nvSpPr>
        <p:spPr>
          <a:xfrm>
            <a:off x="5986119" y="2011680"/>
            <a:ext cx="219456" cy="201168"/>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41367" y="2240280"/>
            <a:ext cx="3108960" cy="457200"/>
          </a:xfrm>
          <a:prstGeom prst="roundRect">
            <a:avLst/>
          </a:prstGeom>
          <a:solidFill>
            <a:srgbClr val="6D28D9"/>
          </a:solidFill>
          <a:ln>
            <a:solidFill>
              <a:srgbClr val="6D28D9"/>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300" b="1">
                <a:solidFill>
                  <a:srgbClr val="FFFFFF"/>
                </a:solidFill>
              </a:rPr>
              <a:t>LangFlow Controller</a:t>
            </a:r>
            <a:endParaRPr sz="1300" b="1">
              <a:solidFill>
                <a:srgbClr val="FFFFFF"/>
              </a:solidFill>
            </a:endParaRPr>
          </a:p>
        </p:txBody>
      </p:sp>
      <p:sp>
        <p:nvSpPr>
          <p:cNvPr id="8" name="Down Arrow 7"/>
          <p:cNvSpPr/>
          <p:nvPr/>
        </p:nvSpPr>
        <p:spPr>
          <a:xfrm>
            <a:off x="5986119" y="2697480"/>
            <a:ext cx="219456" cy="201168"/>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52347" y="2926080"/>
            <a:ext cx="2468880" cy="77724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200" b="1">
                <a:solidFill>
                  <a:srgbClr val="FFFFFF"/>
                </a:solidFill>
              </a:rPr>
              <a:t>Resume Analysis Agent</a:t>
            </a:r>
            <a:endParaRPr sz="1200" b="1">
              <a:solidFill>
                <a:srgbClr val="FFFFFF"/>
              </a:solidFill>
            </a:endParaRPr>
          </a:p>
        </p:txBody>
      </p:sp>
      <p:sp>
        <p:nvSpPr>
          <p:cNvPr id="10" name="Rounded Rectangle 9"/>
          <p:cNvSpPr/>
          <p:nvPr/>
        </p:nvSpPr>
        <p:spPr>
          <a:xfrm>
            <a:off x="3558387" y="2926080"/>
            <a:ext cx="2468880" cy="77724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200" b="1">
                <a:solidFill>
                  <a:srgbClr val="FFFFFF"/>
                </a:solidFill>
              </a:rPr>
              <a:t>Technical Question Agent</a:t>
            </a:r>
            <a:endParaRPr sz="1200" b="1">
              <a:solidFill>
                <a:srgbClr val="FFFFFF"/>
              </a:solidFill>
            </a:endParaRPr>
          </a:p>
        </p:txBody>
      </p:sp>
      <p:sp>
        <p:nvSpPr>
          <p:cNvPr id="11" name="Rounded Rectangle 10"/>
          <p:cNvSpPr/>
          <p:nvPr/>
        </p:nvSpPr>
        <p:spPr>
          <a:xfrm>
            <a:off x="6164427" y="2926080"/>
            <a:ext cx="2468880" cy="77724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200" b="1">
                <a:solidFill>
                  <a:srgbClr val="FFFFFF"/>
                </a:solidFill>
              </a:rPr>
              <a:t>HR Interview Agent</a:t>
            </a:r>
            <a:endParaRPr sz="1200" b="1">
              <a:solidFill>
                <a:srgbClr val="FFFFFF"/>
              </a:solidFill>
            </a:endParaRPr>
          </a:p>
        </p:txBody>
      </p:sp>
      <p:sp>
        <p:nvSpPr>
          <p:cNvPr id="12" name="Rounded Rectangle 11"/>
          <p:cNvSpPr/>
          <p:nvPr/>
        </p:nvSpPr>
        <p:spPr>
          <a:xfrm>
            <a:off x="8770467" y="2926080"/>
            <a:ext cx="2468880" cy="77724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200" b="1">
                <a:solidFill>
                  <a:srgbClr val="FFFFFF"/>
                </a:solidFill>
              </a:rPr>
              <a:t>Feedback Agent</a:t>
            </a:r>
            <a:endParaRPr sz="1200" b="1">
              <a:solidFill>
                <a:srgbClr val="FFFFFF"/>
              </a:solidFill>
            </a:endParaRPr>
          </a:p>
        </p:txBody>
      </p:sp>
      <p:sp>
        <p:nvSpPr>
          <p:cNvPr id="13" name="Down Arrow 12"/>
          <p:cNvSpPr/>
          <p:nvPr/>
        </p:nvSpPr>
        <p:spPr>
          <a:xfrm>
            <a:off x="5986119" y="3703320"/>
            <a:ext cx="219456" cy="201168"/>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41367" y="3931920"/>
            <a:ext cx="3108960" cy="457200"/>
          </a:xfrm>
          <a:prstGeom prst="roundRect">
            <a:avLst/>
          </a:prstGeom>
          <a:solidFill>
            <a:srgbClr val="054ADA"/>
          </a:solidFill>
          <a:ln>
            <a:solidFill>
              <a:srgbClr val="054ADA"/>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300" b="1">
                <a:solidFill>
                  <a:srgbClr val="FFFFFF"/>
                </a:solidFill>
              </a:rPr>
              <a:t>IBM Granite Model</a:t>
            </a:r>
            <a:endParaRPr sz="1300" b="1">
              <a:solidFill>
                <a:srgbClr val="FFFFFF"/>
              </a:solidFill>
            </a:endParaRPr>
          </a:p>
        </p:txBody>
      </p:sp>
      <p:sp>
        <p:nvSpPr>
          <p:cNvPr id="15" name="Down Arrow 14"/>
          <p:cNvSpPr/>
          <p:nvPr/>
        </p:nvSpPr>
        <p:spPr>
          <a:xfrm>
            <a:off x="5986119" y="4389120"/>
            <a:ext cx="219456" cy="201168"/>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41367" y="4617720"/>
            <a:ext cx="3108960" cy="457200"/>
          </a:xfrm>
          <a:prstGeom prst="roundRect">
            <a:avLst/>
          </a:prstGeom>
          <a:solidFill>
            <a:srgbClr val="0EA5E9"/>
          </a:solidFill>
          <a:ln>
            <a:solidFill>
              <a:srgbClr val="0EA5E9"/>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300" b="1">
                <a:solidFill>
                  <a:srgbClr val="FFFFFF"/>
                </a:solidFill>
              </a:rPr>
              <a:t>RAG Knowledge Base (FAISS)</a:t>
            </a:r>
            <a:endParaRPr sz="1300" b="1">
              <a:solidFill>
                <a:srgbClr val="FFFFFF"/>
              </a:solidFill>
            </a:endParaRPr>
          </a:p>
        </p:txBody>
      </p:sp>
      <p:sp>
        <p:nvSpPr>
          <p:cNvPr id="17" name="Down Arrow 16"/>
          <p:cNvSpPr/>
          <p:nvPr/>
        </p:nvSpPr>
        <p:spPr>
          <a:xfrm>
            <a:off x="5986119" y="5074920"/>
            <a:ext cx="219456" cy="201168"/>
          </a:xfrm>
          <a:prstGeom prst="down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41367" y="5303520"/>
            <a:ext cx="3108960" cy="457200"/>
          </a:xfrm>
          <a:prstGeom prst="roundRect">
            <a:avLst/>
          </a:prstGeom>
          <a:solidFill>
            <a:srgbClr val="0F766E"/>
          </a:solidFill>
          <a:ln>
            <a:solidFill>
              <a:srgbClr val="0F766E"/>
            </a:solidFill>
          </a:ln>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buNone/>
            </a:pPr>
            <a:r>
              <a:rPr sz="1300" b="1">
                <a:solidFill>
                  <a:srgbClr val="FFFFFF"/>
                </a:solidFill>
              </a:rPr>
              <a:t>Interview Report</a:t>
            </a:r>
            <a:endParaRPr sz="1300" b="1">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p:cNvSpPr txBox="1"/>
          <p:nvPr/>
        </p:nvSpPr>
        <p:spPr>
          <a:xfrm>
            <a:off x="621792" y="1167493"/>
            <a:ext cx="7406640" cy="4292600"/>
          </a:xfrm>
          <a:prstGeom prst="rect">
            <a:avLst/>
          </a:prstGeom>
          <a:noFill/>
        </p:spPr>
        <p:txBody>
          <a:bodyPr wrap="square" rtlCol="0">
            <a:spAutoFit/>
          </a:bodyPr>
          <a:lstStyle/>
          <a:p>
            <a:pPr>
              <a:lnSpc>
                <a:spcPct val="150000"/>
              </a:lnSpc>
            </a:pPr>
            <a:r>
              <a:rPr lang="en-US" b="1" dirty="0"/>
              <a:t>Role of Agentic AI in Interview Trainer Agent</a:t>
            </a:r>
            <a:endParaRPr lang="en-US" b="1" dirty="0"/>
          </a:p>
          <a:p>
            <a:pPr>
              <a:lnSpc>
                <a:spcPct val="150000"/>
              </a:lnSpc>
            </a:pPr>
            <a:r>
              <a:rPr lang="en-US" b="1" dirty="0"/>
              <a:t>Agentic AI enables the Interview Trainer Agent to function as an intelligent and autonomous interview preparation assistant rather than a simple chatbot. The Resume Analysis Agent understands candidate profiles and identifies skills and experience.</a:t>
            </a:r>
            <a:endParaRPr lang="en-US" b="1" dirty="0"/>
          </a:p>
          <a:p>
            <a:pPr>
              <a:lnSpc>
                <a:spcPct val="150000"/>
              </a:lnSpc>
            </a:pPr>
            <a:r>
              <a:rPr lang="en-US" dirty="0"/>
              <a:t>The Technical Question Agent generates role-specific technical questions, while the HR Interview Agent prepares behavioral and soft-skill interview scenarios.</a:t>
            </a:r>
            <a:endParaRPr lang="en-US" dirty="0"/>
          </a:p>
          <a:p>
            <a:pPr>
              <a:lnSpc>
                <a:spcPct val="150000"/>
              </a:lnSpc>
            </a:pPr>
            <a:r>
              <a:rPr lang="en-US" dirty="0"/>
              <a:t>The Feedback Agent evaluates candidate responses and provides improvement suggestions and confidence scores.</a:t>
            </a:r>
            <a:endParaRPr lang="en-US" dirty="0"/>
          </a:p>
          <a:p>
            <a:pPr>
              <a:lnSpc>
                <a:spcPct val="150000"/>
              </a:lnSpc>
            </a:pPr>
            <a:r>
              <a:rPr lang="en-US" dirty="0"/>
              <a:t>This multi-agent architecture enables personalized, context-aware, and adaptive interview preparation.</a:t>
            </a:r>
            <a:endParaRPr lang="en-US" dirty="0"/>
          </a:p>
          <a:p>
            <a:pPr>
              <a:lnSpc>
                <a:spcPct val="150000"/>
              </a:lnSpc>
            </a:pPr>
            <a:r>
              <a:rPr lang="en-US" dirty="0"/>
              <a:t>Overall, Agentic AI helps candidates improve confidence and performance through tailored, interactive practice.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 Platform – For designing and orchestrating multi-agent workflows visually.</a:t>
            </a:r>
            <a:endParaRPr lang="en-US" sz="1800" b="1" dirty="0" err="1"/>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 For natural language understanding, interview question generation, reasoning, and personalized feedback.</a:t>
            </a:r>
            <a:endParaRPr lang="en-US" sz="1800" b="1"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 Provides infrastructure for deployment and scalability of the Interview Trainer Agent.</a:t>
            </a:r>
            <a:endParaRPr lang="en-US" sz="1800" b="1"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 Retrieves relevant interview questions, company expectations, and industry-specific knowledge.</a:t>
            </a:r>
            <a:endParaRPr lang="en-US" sz="1800" b="1"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For model deployment, embeddings, and AI governance.</a:t>
            </a:r>
            <a:endParaRPr lang="en-US" sz="1800" b="1"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(FAISS) – For efficient storage and retrieval of interview knowledge.</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777240" y="1207008"/>
            <a:ext cx="11301984" cy="5015865"/>
          </a:xfrm>
          <a:prstGeom prst="rect">
            <a:avLst/>
          </a:prstGeom>
          <a:noFill/>
        </p:spPr>
        <p:txBody>
          <a:bodyPr wrap="square" rtlCol="0">
            <a:spAutoFit/>
          </a:bodyPr>
          <a:lstStyle/>
          <a:p>
            <a:r>
              <a:rPr lang="en-IN" sz="1800" dirty="0"/>
              <a:t>The proposed Interview Trainer Agent stands out by combining Agentic AI, RAG, and personalization into a single intelligent system.</a:t>
            </a:r>
            <a:endParaRPr lang="en-IN" sz="1800" dirty="0"/>
          </a:p>
          <a:p>
            <a:endParaRPr lang="en-IN" sz="1800" dirty="0"/>
          </a:p>
          <a:p>
            <a:pPr>
              <a:lnSpc>
                <a:spcPct val="150000"/>
              </a:lnSpc>
            </a:pPr>
            <a:r>
              <a:rPr lang="en-IN" sz="1800" b="1" dirty="0"/>
              <a:t>Multi-Agent Intelligence – Multiple specialized agents collaborate to deliver personalized interview preparation.</a:t>
            </a:r>
            <a:endParaRPr lang="en-IN" sz="1800" b="1" dirty="0"/>
          </a:p>
          <a:p>
            <a:pPr>
              <a:lnSpc>
                <a:spcPct val="150000"/>
              </a:lnSpc>
            </a:pPr>
            <a:r>
              <a:rPr lang="en-IN" sz="1800" b="1" dirty="0"/>
              <a:t>Resume-Based Personalization – Questions are generated based on candidate skills and experience.</a:t>
            </a:r>
            <a:endParaRPr lang="en-IN" sz="1800" b="1" dirty="0"/>
          </a:p>
          <a:p>
            <a:pPr>
              <a:lnSpc>
                <a:spcPct val="150000"/>
              </a:lnSpc>
            </a:pPr>
            <a:r>
              <a:rPr lang="en-IN" sz="1800" b="1" dirty="0"/>
              <a:t>Adaptive Interview Generation – Dynamic interview scenarios based on role and difficulty level.</a:t>
            </a:r>
            <a:endParaRPr lang="en-IN" sz="1800" b="1" dirty="0"/>
          </a:p>
          <a:p>
            <a:pPr>
              <a:lnSpc>
                <a:spcPct val="150000"/>
              </a:lnSpc>
            </a:pPr>
            <a:r>
              <a:rPr lang="en-IN" sz="1800" b="1" dirty="0"/>
              <a:t>Automated Feedback System – Provides answer evaluation and improvement suggestions.</a:t>
            </a:r>
            <a:endParaRPr lang="en-IN" sz="1800" b="1" dirty="0"/>
          </a:p>
          <a:p>
            <a:pPr>
              <a:lnSpc>
                <a:spcPct val="150000"/>
              </a:lnSpc>
            </a:pPr>
            <a:r>
              <a:rPr lang="en-IN" sz="1800" b="1" dirty="0"/>
              <a:t>Technical and HR Coverage – Supports both technical and behavioral interview preparation.</a:t>
            </a:r>
            <a:endParaRPr lang="en-IN" sz="1800" b="1" dirty="0"/>
          </a:p>
          <a:p>
            <a:pPr>
              <a:lnSpc>
                <a:spcPct val="150000"/>
              </a:lnSpc>
            </a:pPr>
            <a:r>
              <a:rPr lang="en-IN" sz="1800" b="1" dirty="0"/>
              <a:t>Enterprise-Ready Architecture – Built using IBM Granite Models and LangFlow.</a:t>
            </a:r>
            <a:endParaRPr lang="en-IN" sz="1800" b="1" dirty="0"/>
          </a:p>
          <a:p>
            <a:pPr>
              <a:lnSpc>
                <a:spcPct val="150000"/>
              </a:lnSpc>
            </a:pPr>
            <a:endParaRPr sz="1800"/>
          </a:p>
          <a:p>
            <a:endParaRPr lang="en-IN" sz="1800" dirty="0"/>
          </a:p>
          <a:p>
            <a:r>
              <a:rPr lang="en-IN" sz="1800" dirty="0"/>
              <a:t>This makes the solution a smart, adaptive, and proactive digital interview coach.</a:t>
            </a:r>
            <a:endParaRPr lang="en-US" dirty="0"/>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Git Hub Link</a:t>
            </a:r>
            <a:endParaRPr sz="2400" b="1" dirty="0">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None/>
            </a:pPr>
            <a:r>
              <a:rPr lang="en-US" sz="2200" b="1"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GitHub Repository:</a:t>
            </a:r>
            <a:endParaRPr lang="en-US" sz="2200" b="1"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None/>
            </a:pPr>
            <a:r>
              <a:rPr lang="en-US" altLang="en-US" sz="1800" dirty="0">
                <a:solidFill>
                  <a:srgbClr val="1E40AF"/>
                </a:solidFill>
                <a:latin typeface="Times New Roman" panose="02020603050405020304"/>
                <a:ea typeface="Times New Roman" panose="02020603050405020304"/>
                <a:cs typeface="Times New Roman" panose="02020603050405020304"/>
                <a:sym typeface="Times New Roman" panose="02020603050405020304"/>
                <a:hlinkClick r:id="rId1" tooltip="" action="ppaction://hlinkfile"/>
              </a:rPr>
              <a:t>https://github.com/Suvasini911/InterviewAce-AI.git</a:t>
            </a:r>
            <a:endParaRPr lang="en-US" sz="1800" dirty="0">
              <a:solidFill>
                <a:srgbClr val="1E40AF"/>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buNone/>
            </a:pPr>
            <a:endParaRPr lang="en-US" sz="1800" b="1"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buNone/>
            </a:pPr>
            <a:endParaRPr lang="en-US" sz="1800" b="1"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buNone/>
            </a:pPr>
            <a:r>
              <a:rPr lang="en-US" sz="180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Repository contains:</a:t>
            </a:r>
            <a:b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br>
            <a:endPar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629456"/>
            <a:ext cx="7468553" cy="766048"/>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2B3541"/>
              </a:buClr>
              <a:buSzPts val="1850"/>
              <a:buNone/>
            </a:pPr>
            <a:r>
              <a:rPr lang="en-US" sz="1600" b="0" i="0" u="none" strike="noStrike" cap="none" dirty="0">
                <a:solidFill>
                  <a:srgbClr val="111827"/>
                </a:solidFill>
                <a:latin typeface="Times New Roman" panose="02020603050405020304"/>
                <a:ea typeface="Times New Roman" panose="02020603050405020304"/>
                <a:cs typeface="Times New Roman" panose="02020603050405020304"/>
                <a:sym typeface="Times New Roman" panose="02020603050405020304"/>
              </a:rPr>
              <a:t>• app.py</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nSpc>
                <a:spcPct val="150000"/>
              </a:lnSpc>
              <a:buNone/>
            </a:pPr>
            <a:r>
              <a:rPr sz="1600">
                <a:solidFill>
                  <a:srgbClr val="111827"/>
                </a:solidFill>
              </a:rPr>
              <a:t>• README.md</a:t>
            </a:r>
            <a:endParaRPr sz="1600">
              <a:solidFill>
                <a:srgbClr val="111827"/>
              </a:solidFill>
            </a:endParaRPr>
          </a:p>
          <a:p>
            <a:pPr>
              <a:lnSpc>
                <a:spcPct val="150000"/>
              </a:lnSpc>
              <a:buNone/>
            </a:pPr>
            <a:r>
              <a:rPr sz="1600">
                <a:solidFill>
                  <a:srgbClr val="111827"/>
                </a:solidFill>
              </a:rPr>
              <a:t>• app.json</a:t>
            </a:r>
            <a:endParaRPr sz="1600">
              <a:solidFill>
                <a:srgbClr val="111827"/>
              </a:solidFill>
            </a:endParaRPr>
          </a:p>
          <a:p>
            <a:pPr>
              <a:lnSpc>
                <a:spcPct val="150000"/>
              </a:lnSpc>
              <a:buNone/>
            </a:pPr>
            <a:r>
              <a:rPr sz="1600">
                <a:solidFill>
                  <a:srgbClr val="111827"/>
                </a:solidFill>
              </a:rPr>
              <a:t>• problemstatement.pdf</a:t>
            </a:r>
            <a:endParaRPr sz="1600">
              <a:solidFill>
                <a:srgbClr val="111827"/>
              </a:solidFill>
            </a:endParaRPr>
          </a:p>
          <a:p>
            <a:pPr>
              <a:lnSpc>
                <a:spcPct val="150000"/>
              </a:lnSpc>
              <a:buNone/>
            </a:pPr>
            <a:r>
              <a:rPr sz="1600">
                <a:solidFill>
                  <a:srgbClr val="111827"/>
                </a:solidFill>
              </a:rPr>
              <a:t>• projectpresentation.pptx</a:t>
            </a:r>
            <a:endParaRPr sz="1600">
              <a:solidFill>
                <a:srgbClr val="111827"/>
              </a:solidFill>
            </a:endParaRPr>
          </a:p>
          <a:p>
            <a:pPr>
              <a:lnSpc>
                <a:spcPct val="150000"/>
              </a:lnSpc>
              <a:buNone/>
            </a:pPr>
            <a:r>
              <a:rPr sz="1600">
                <a:solidFill>
                  <a:srgbClr val="111827"/>
                </a:solidFill>
              </a:rPr>
              <a:t>• screenshots</a:t>
            </a:r>
            <a:endParaRPr sz="1600">
              <a:solidFill>
                <a:srgbClr val="111827"/>
              </a:solidFill>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Future Scope </a:t>
            </a:r>
            <a:endParaRPr sz="2400" b="1" dirty="0">
              <a:sym typeface="Times New Roman" panose="02020603050405020304"/>
            </a:endParaRPr>
          </a:p>
        </p:txBody>
      </p:sp>
      <p:sp>
        <p:nvSpPr>
          <p:cNvPr id="279" name="Google Shape;279;p18"/>
          <p:cNvSpPr/>
          <p:nvPr/>
        </p:nvSpPr>
        <p:spPr>
          <a:xfrm>
            <a:off x="883285" y="1536700"/>
            <a:ext cx="10172700" cy="4276725"/>
          </a:xfrm>
          <a:prstGeom prst="rect">
            <a:avLst/>
          </a:prstGeom>
          <a:noFill/>
          <a:ln>
            <a:noFill/>
          </a:ln>
        </p:spPr>
        <p:txBody>
          <a:bodyPr spcFirstLastPara="1" wrap="square" lIns="0" tIns="0" rIns="0" bIns="0" anchor="t" anchorCtr="0">
            <a:noAutofit/>
          </a:bodyPr>
          <a:lstStyle/>
          <a:p>
            <a:pPr marL="342900" marR="0" lvl="0" indent="-342900" algn="l" rtl="0">
              <a:lnSpc>
                <a:spcPct val="100000"/>
              </a:lnSpc>
              <a:spcBef>
                <a:spcPts val="0"/>
              </a:spcBef>
              <a:spcAft>
                <a:spcPts val="0"/>
              </a:spcAft>
              <a:buClr>
                <a:srgbClr val="2B3541"/>
              </a:buClr>
              <a:buSzPts val="1850"/>
              <a:buFont typeface="Arial" panose="020B0604020202020204" pitchFamily="34" charset="0"/>
              <a:buChar char="•"/>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Voice-Based Mock Interviews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Conduct real-time voice interviews and evaluate communication skills.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rgbClr val="2B3541"/>
              </a:buClr>
              <a:buSzPts val="1850"/>
              <a:buFont typeface="Arial" panose="020B0604020202020204" pitchFamily="34" charset="0"/>
              <a:buChar char="•"/>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Resume PDF Analysis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Automatically extract skills, education, and projects from resumes.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rgbClr val="2B3541"/>
              </a:buClr>
              <a:buSzPts val="1850"/>
              <a:buFont typeface="Arial" panose="020B0604020202020204" pitchFamily="34" charset="0"/>
              <a:buChar char="•"/>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Video Interview Assessment</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Analyze facial expressions and confidence levels.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rgbClr val="2B3541"/>
              </a:buClr>
              <a:buSzPts val="1850"/>
              <a:buFont typeface="Arial" panose="020B0604020202020204" pitchFamily="34" charset="0"/>
              <a:buChar char="•"/>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Multilingual Support</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Support interview preparation in multiple languages.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0"/>
              </a:spcBef>
              <a:spcAft>
                <a:spcPts val="0"/>
              </a:spcAft>
              <a:buClr>
                <a:srgbClr val="2B3541"/>
              </a:buClr>
              <a:buSzPts val="1850"/>
              <a:buFont typeface="Arial" panose="020B0604020202020204" pitchFamily="34" charset="0"/>
              <a:buChar char="•"/>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Company-Specific Preparation</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2B3541"/>
              </a:buClr>
              <a:buSzPts val="1850"/>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Generate customized interview questions for companies such as Amazon, Microsoft, Google, </a:t>
            </a:r>
            <a:r>
              <a:rPr lang="en-GB"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and TCS.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6656</Words>
  <Application>WPS Presentation</Application>
  <PresentationFormat>Widescreen</PresentationFormat>
  <Paragraphs>229</Paragraphs>
  <Slides>16</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Suvasini Huleppa</cp:lastModifiedBy>
  <cp:revision>27</cp:revision>
  <dcterms:created xsi:type="dcterms:W3CDTF">2025-07-08T05:06:00Z</dcterms:created>
  <dcterms:modified xsi:type="dcterms:W3CDTF">2026-06-05T18:18:26Z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FA5FDA2E9206438E8E7150FA21F67699_12</vt:lpwstr>
  </property>
</Properties>
</file>